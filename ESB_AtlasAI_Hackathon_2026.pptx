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8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70" r:id="rId21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457200"/>
            <a:ext cx="4572000" cy="4572000"/>
          </a:xfrm>
          <a:prstGeom prst="ellipse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0" y="457200"/>
            <a:ext cx="3200400" cy="3200400"/>
          </a:xfrm>
          <a:prstGeom prst="ellipse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475488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921240" y="475488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41280" y="475488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61320" y="475488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881360" y="475488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07492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07492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07492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07492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07492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0" y="539496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21240" y="539496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241280" y="539496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61320" y="539496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881360" y="539496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01200" y="571500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21240" y="571500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241280" y="571500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61320" y="571500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881360" y="571500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01200" y="603504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21240" y="603504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241280" y="603504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61320" y="603504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881360" y="603504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48640"/>
            <a:ext cx="2377440" cy="347472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669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ESB INTERNAL HACKATHON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1430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 i="0">
                <a:solidFill>
                  <a:srgbClr val="FFFFFF"/>
                </a:solidFill>
                <a:latin typeface="Calibri"/>
              </a:rPr>
              <a:t>Atlas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114300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 i="0">
                <a:solidFill>
                  <a:srgbClr val="FF6B2B"/>
                </a:solidFill>
                <a:latin typeface="Calibri"/>
              </a:rPr>
              <a:t>AI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2514600"/>
            <a:ext cx="5029200" cy="254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2651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0B8D4"/>
                </a:solidFill>
                <a:latin typeface="Calibri"/>
              </a:rPr>
              <a:t>Location Intelligence untuk Bisnis FnB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1546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B7596"/>
                </a:solidFill>
                <a:latin typeface="Calibri"/>
              </a:rPr>
              <a:t>Pilih lokasi. Analisis data. Buka bisnis dengan benar.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14800"/>
            <a:ext cx="1920240" cy="82296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16052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6B2B"/>
                </a:solidFill>
                <a:latin typeface="Calibri"/>
              </a:rPr>
              <a:t>30.000+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45445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B8D4"/>
                </a:solidFill>
                <a:latin typeface="Calibri"/>
              </a:rPr>
              <a:t>Outlet ESB Aktif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4114800"/>
            <a:ext cx="1920240" cy="82296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34640" y="416052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6B2B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34640" y="45445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B8D4"/>
                </a:solidFill>
                <a:latin typeface="Calibri"/>
              </a:rPr>
              <a:t>Dimensi Analisis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0" y="4114800"/>
            <a:ext cx="1920240" cy="82296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20640" y="416052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6B2B"/>
                </a:solidFill>
                <a:latin typeface="Calibri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45445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B8D4"/>
                </a:solidFill>
                <a:latin typeface="Calibri"/>
              </a:rPr>
              <a:t>Kota Coverage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596"/>
                </a:solidFill>
                <a:latin typeface="Calibri"/>
              </a:rPr>
              <a:t>Diki Taurens Sia  ·  diki.taurens@esb.co.id  · 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18288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0" i="0">
                <a:solidFill>
                  <a:srgbClr val="FF6B2B"/>
                </a:solidFill>
                <a:latin typeface="Calibri"/>
              </a:rPr>
              <a:t>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596"/>
                </a:solidFill>
                <a:latin typeface="Calibri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2B"/>
                </a:solidFill>
                <a:latin typeface="Calibri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Keputusan Lokasi
yang Salah Membunuh Bisnis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11430000" cy="254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645920"/>
            <a:ext cx="2560320" cy="2560320"/>
          </a:xfrm>
          <a:prstGeom prst="ellipse">
            <a:avLst/>
          </a:prstGeom>
          <a:solidFill>
            <a:srgbClr val="2A1008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EF4444"/>
                </a:solidFill>
                <a:latin typeface="Calibri"/>
              </a:rPr>
              <a:t>60%+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7432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B8D4"/>
                </a:solidFill>
                <a:latin typeface="Calibri"/>
              </a:rPr>
              <a:t>bisnis FnB baru
tutup dalam
3 tahun pertama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6118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6B7596"/>
                </a:solidFill>
                <a:latin typeface="Calibri"/>
              </a:rPr>
              <a:t>Sumber: CNBC, Bellini (2016)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691640"/>
            <a:ext cx="4160520" cy="11430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691640"/>
            <a:ext cx="54864" cy="1143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6432" y="178308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Intuisi &amp; Observasi Manual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214884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D4"/>
                </a:solidFill>
                <a:latin typeface="Calibri"/>
              </a:rPr>
              <a:t>Pemilik berdiri di lokasi beberapa jam untuk menebak-nebak volume traffic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1691640"/>
            <a:ext cx="4160520" cy="11430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1691640"/>
            <a:ext cx="54864" cy="1143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1271" y="178308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Riset Kompetitor Manual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1" y="214884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D4"/>
                </a:solidFill>
                <a:latin typeface="Calibri"/>
              </a:rPr>
              <a:t>Keliling area &amp; Google Maps — tidak ada data revenue atau perbandingan historis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3017520"/>
            <a:ext cx="4160520" cy="11430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91840" y="3017520"/>
            <a:ext cx="54864" cy="1143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310896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Survei Lapangan Mahal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347472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D4"/>
                </a:solidFill>
                <a:latin typeface="Calibri"/>
              </a:rPr>
              <a:t>Biaya riset profesional jutaan rupiah, tidak terjangkau UMKM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26679" y="3017520"/>
            <a:ext cx="4160520" cy="11430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26679" y="3017520"/>
            <a:ext cx="54864" cy="1143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91271" y="310896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Zero Data-Driven 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1271" y="347472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D4"/>
                </a:solidFill>
                <a:latin typeface="Calibri"/>
              </a:rPr>
              <a:t>Tidak ada platform yang mengintegrasikan traffic + kompetitor + demografi + profit FnB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0292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B8D4"/>
                </a:solidFill>
                <a:latin typeface="Calibri"/>
              </a:rPr>
              <a:t>"Tidak ada platform SaaS di Indonesia yang mengintegrasikan data traffic, kompetitor, demografi, dan histori transaksi FnB nyata dalam satu antarmuka."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577840"/>
            <a:ext cx="11430000" cy="25400"/>
          </a:xfrm>
          <a:prstGeom prst="rect">
            <a:avLst/>
          </a:prstGeom>
          <a:solidFill>
            <a:srgbClr val="6B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596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2B"/>
                </a:solidFill>
                <a:latin typeface="Calibri"/>
              </a:rPr>
              <a:t>CURRENT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Bagaimana Keputusan Lokasi Dibuat Hari 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30000" cy="254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5303520" cy="521208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03520" cy="384048"/>
          </a:xfrm>
          <a:prstGeom prst="rect">
            <a:avLst/>
          </a:prstGeom>
          <a:solidFill>
            <a:srgbClr val="2A10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6187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F4444"/>
                </a:solidFill>
                <a:latin typeface="Calibri"/>
              </a:rPr>
              <a:t>SEKARANG — Manual &amp; Intuisi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737360"/>
            <a:ext cx="347472" cy="34747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46504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75564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8D4"/>
                </a:solidFill>
                <a:latin typeface="Calibri"/>
              </a:rPr>
              <a:t>Survei manual ke lapangan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" y="2084831"/>
            <a:ext cx="73152" cy="457200"/>
          </a:xfrm>
          <a:prstGeom prst="rect">
            <a:avLst/>
          </a:prstGeom>
          <a:solidFill>
            <a:srgbClr val="6B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" y="2542032"/>
            <a:ext cx="347472" cy="34747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51175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5603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8D4"/>
                </a:solidFill>
                <a:latin typeface="Calibri"/>
              </a:rPr>
              <a:t>Observasi traffic berjam-jam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2889503"/>
            <a:ext cx="73152" cy="457200"/>
          </a:xfrm>
          <a:prstGeom prst="rect">
            <a:avLst/>
          </a:prstGeom>
          <a:solidFill>
            <a:srgbClr val="6B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3346704"/>
            <a:ext cx="347472" cy="34747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355848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36499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8D4"/>
                </a:solidFill>
                <a:latin typeface="Calibri"/>
              </a:rPr>
              <a:t>Riset kompetitor sendiri via Google Maps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" y="3694176"/>
            <a:ext cx="73152" cy="457200"/>
          </a:xfrm>
          <a:prstGeom prst="rect">
            <a:avLst/>
          </a:prstGeom>
          <a:solidFill>
            <a:srgbClr val="6B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8640" y="4151376"/>
            <a:ext cx="347472" cy="34747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160520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169663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8D4"/>
                </a:solidFill>
                <a:latin typeface="Calibri"/>
              </a:rPr>
              <a:t>Estimasi profit dari teman/kenalan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6" y="4498848"/>
            <a:ext cx="73152" cy="457200"/>
          </a:xfrm>
          <a:prstGeom prst="rect">
            <a:avLst/>
          </a:prstGeom>
          <a:solidFill>
            <a:srgbClr val="6B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8640" y="4956048"/>
            <a:ext cx="347472" cy="34747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965192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97433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8D4"/>
                </a:solidFill>
                <a:latin typeface="Calibri"/>
              </a:rPr>
              <a:t>Keputusan berdasarkan INTUISI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742432"/>
            <a:ext cx="4983480" cy="502920"/>
          </a:xfrm>
          <a:prstGeom prst="rect">
            <a:avLst/>
          </a:prstGeom>
          <a:solidFill>
            <a:srgbClr val="3A10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779008"/>
            <a:ext cx="4892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F4444"/>
                </a:solidFill>
                <a:latin typeface="Calibri"/>
              </a:rPr>
              <a:t>Hasil: Tingkat kegagalan tinggi, investasi hilang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320040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6B2B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9400" y="1234440"/>
            <a:ext cx="5303520" cy="521208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29400" y="1234440"/>
            <a:ext cx="5303520" cy="384048"/>
          </a:xfrm>
          <a:prstGeom prst="rect">
            <a:avLst/>
          </a:prstGeom>
          <a:solidFill>
            <a:srgbClr val="082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126187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0B981"/>
                </a:solidFill>
                <a:latin typeface="Calibri"/>
              </a:rPr>
              <a:t>DENGAN AtlasAI — Data-Driven</a:t>
            </a:r>
          </a:p>
        </p:txBody>
      </p:sp>
      <p:sp>
        <p:nvSpPr>
          <p:cNvPr id="34" name="Oval 33"/>
          <p:cNvSpPr/>
          <p:nvPr/>
        </p:nvSpPr>
        <p:spPr>
          <a:xfrm>
            <a:off x="6858000" y="173736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0" y="1746504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175564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8D4"/>
                </a:solidFill>
                <a:latin typeface="Calibri"/>
              </a:rPr>
              <a:t>Login ESB → buka AtlasAI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86016" y="2084831"/>
            <a:ext cx="73152" cy="457200"/>
          </a:xfrm>
          <a:prstGeom prst="rect">
            <a:avLst/>
          </a:prstGeom>
          <a:solidFill>
            <a:srgbClr val="6B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58000" y="254203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0" y="2551175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25603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8D4"/>
                </a:solidFill>
                <a:latin typeface="Calibri"/>
              </a:rPr>
              <a:t>Pilih kategori bisnis + tandai lokasi di peta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86016" y="2889503"/>
            <a:ext cx="73152" cy="457200"/>
          </a:xfrm>
          <a:prstGeom prst="rect">
            <a:avLst/>
          </a:prstGeom>
          <a:solidFill>
            <a:srgbClr val="6B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858000" y="334670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0" y="3355848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36499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8D4"/>
                </a:solidFill>
                <a:latin typeface="Calibri"/>
              </a:rPr>
              <a:t>Sistem analisis otomatis: Overpass + ESB DB + AI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86016" y="3694176"/>
            <a:ext cx="73152" cy="457200"/>
          </a:xfrm>
          <a:prstGeom prst="rect">
            <a:avLst/>
          </a:prstGeom>
          <a:solidFill>
            <a:srgbClr val="6B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58000" y="415137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0" y="4160520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4169663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8D4"/>
                </a:solidFill>
                <a:latin typeface="Calibri"/>
              </a:rPr>
              <a:t>Skor 5 dimensi + estimasi profit + rekomendasi AI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86016" y="4498848"/>
            <a:ext cx="73152" cy="457200"/>
          </a:xfrm>
          <a:prstGeom prst="rect">
            <a:avLst/>
          </a:prstGeom>
          <a:solidFill>
            <a:srgbClr val="6B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858000" y="495604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0" y="4965192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497433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8D4"/>
                </a:solidFill>
                <a:latin typeface="Calibri"/>
              </a:rPr>
              <a:t>Download PDF → presentasi ke investor/partner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66560" y="5742432"/>
            <a:ext cx="4983480" cy="502920"/>
          </a:xfrm>
          <a:prstGeom prst="rect">
            <a:avLst/>
          </a:prstGeom>
          <a:solidFill>
            <a:srgbClr val="082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12280" y="5779008"/>
            <a:ext cx="4892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0B981"/>
                </a:solidFill>
                <a:latin typeface="Calibri"/>
              </a:rPr>
              <a:t>Hasil: Keputusan berbasis data, risiko terukur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596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2B"/>
                </a:solidFill>
                <a:latin typeface="Calibri"/>
              </a:rPr>
              <a:t>UNFAIR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Data yang Tidak Bisa
Direplikasi Kompetitor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11430000" cy="254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114800" y="1645920"/>
            <a:ext cx="3931920" cy="3931920"/>
          </a:xfrm>
          <a:prstGeom prst="ellipse">
            <a:avLst/>
          </a:prstGeom>
          <a:solidFill>
            <a:srgbClr val="1A1005"/>
          </a:solidFill>
          <a:ln w="38100">
            <a:solidFill>
              <a:srgbClr val="FF6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60520" y="210312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6B2B"/>
                </a:solidFill>
                <a:latin typeface="Calibri"/>
              </a:rPr>
              <a:t>30.000+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30632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OUTLET ESB AKTIF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345643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8D4"/>
                </a:solidFill>
                <a:latin typeface="Calibri"/>
              </a:rPr>
              <a:t>tersebar di ratusan kota Indonesia</a:t>
            </a:r>
          </a:p>
        </p:txBody>
      </p:sp>
      <p:sp>
        <p:nvSpPr>
          <p:cNvPr id="10" name="Oval 9"/>
          <p:cNvSpPr/>
          <p:nvPr/>
        </p:nvSpPr>
        <p:spPr>
          <a:xfrm>
            <a:off x="365760" y="1993392"/>
            <a:ext cx="182880" cy="182880"/>
          </a:xfrm>
          <a:prstGeom prst="ellipse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20240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2B"/>
                </a:solidFill>
                <a:latin typeface="Calibri"/>
              </a:rPr>
              <a:t>Data Transaksi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128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D4"/>
                </a:solidFill>
                <a:latin typeface="Calibri"/>
              </a:rPr>
              <a:t>Revenue historis per kategori &amp; lokasi — bukan estimasi</a:t>
            </a:r>
          </a:p>
        </p:txBody>
      </p:sp>
      <p:sp>
        <p:nvSpPr>
          <p:cNvPr id="13" name="Oval 12"/>
          <p:cNvSpPr/>
          <p:nvPr/>
        </p:nvSpPr>
        <p:spPr>
          <a:xfrm>
            <a:off x="365760" y="3227832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154680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Pola Perilaku Merchant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4472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D4"/>
                </a:solidFill>
                <a:latin typeface="Calibri"/>
              </a:rPr>
              <a:t>Waktu peak, tren seasonal, korelasi traffic &amp; revenue</a:t>
            </a:r>
          </a:p>
        </p:txBody>
      </p:sp>
      <p:sp>
        <p:nvSpPr>
          <p:cNvPr id="16" name="Oval 15"/>
          <p:cNvSpPr/>
          <p:nvPr/>
        </p:nvSpPr>
        <p:spPr>
          <a:xfrm>
            <a:off x="365760" y="4462272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389120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Network Effect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68172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D4"/>
                </a:solidFill>
                <a:latin typeface="Calibri"/>
              </a:rPr>
              <a:t>Makin banyak merchant → makin akurat prediksi AtlasAI</a:t>
            </a:r>
          </a:p>
        </p:txBody>
      </p:sp>
      <p:sp>
        <p:nvSpPr>
          <p:cNvPr id="19" name="Oval 18"/>
          <p:cNvSpPr/>
          <p:nvPr/>
        </p:nvSpPr>
        <p:spPr>
          <a:xfrm>
            <a:off x="365760" y="5650992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577840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Defensible Moat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704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D4"/>
                </a:solidFill>
                <a:latin typeface="Calibri"/>
              </a:rPr>
              <a:t>Tidak dapat direplikasi tanpa 30K+ merchant ekosistem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1691640"/>
            <a:ext cx="3749039" cy="384048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1783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Aset Data ESB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40" y="2176272"/>
            <a:ext cx="3474720" cy="127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331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D4"/>
                </a:solidFill>
                <a:latin typeface="Calibri"/>
              </a:rPr>
              <a:t>🏪  Data Transaksi FnB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89864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D4"/>
                </a:solidFill>
                <a:latin typeface="Calibri"/>
              </a:rPr>
              <a:t>📍  Geo-tagged Revenue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465576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D4"/>
                </a:solidFill>
                <a:latin typeface="Calibri"/>
              </a:rPr>
              <a:t>📊  Benchmark per Kategori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032504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D4"/>
                </a:solidFill>
                <a:latin typeface="Calibri"/>
              </a:rPr>
              <a:t>👥  Profil Demografi Area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599431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D4"/>
                </a:solidFill>
                <a:latin typeface="Calibri"/>
              </a:rPr>
              <a:t>🗓️  Histori Multi-tahun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596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2B"/>
                </a:solidFill>
                <a:latin typeface="Calibri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ESB AtlasAI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7639" y="50292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6B2B"/>
                </a:solidFill>
                <a:latin typeface="Calibri"/>
              </a:rPr>
              <a:t>AI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53312"/>
            <a:ext cx="11430000" cy="254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63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8D4"/>
                </a:solidFill>
                <a:latin typeface="Calibri"/>
              </a:rPr>
              <a:t>Platform location intelligence berbasis AI yang membantu merchant &amp; calon merchant FnB
menganalisis kelayakan lokasi bisnis secara data-driven — dalam hitungan detik.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331720"/>
            <a:ext cx="3749039" cy="16002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2331720"/>
            <a:ext cx="3749039" cy="54864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331720"/>
            <a:ext cx="73152" cy="16002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44144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2B"/>
                </a:solidFill>
                <a:latin typeface="Calibri"/>
              </a:rPr>
              <a:t>Skor Kelayakan Lokasi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07208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D4"/>
                </a:solidFill>
                <a:latin typeface="Calibri"/>
              </a:rPr>
              <a:t>Skor 0–100 dari 5 dimensi analisis. Grade: Sangat Potensial / Potensi Bagus / Cukup Potensial / Kurang Ideal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2331720"/>
            <a:ext cx="3749039" cy="16002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2331720"/>
            <a:ext cx="3749039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2331720"/>
            <a:ext cx="73152" cy="1600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8" y="244144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Peta Kompetitor Interaktif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807208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D4"/>
                </a:solidFill>
                <a:latin typeface="Calibri"/>
              </a:rPr>
              <a:t>Visualisasi outlet sejenis dalam radius 200–1500 m di atas peta dark-mode Leaflet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0456" y="2331720"/>
            <a:ext cx="3749039" cy="16002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0456" y="2331720"/>
            <a:ext cx="3749039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0456" y="2331720"/>
            <a:ext cx="73152" cy="1600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03336" y="244144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Estimasi Profit Berbasis ESB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03336" y="2807208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D4"/>
                </a:solidFill>
                <a:latin typeface="Calibri"/>
              </a:rPr>
              <a:t>Range profit bulanan (min–max) dari data historis 30K+ outlet, adjusted by scale bisnis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160520"/>
            <a:ext cx="3749039" cy="16002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4160520"/>
            <a:ext cx="3749039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4160520"/>
            <a:ext cx="73152" cy="1600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27024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Rekomendasi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636008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D4"/>
                </a:solidFill>
                <a:latin typeface="Calibri"/>
              </a:rPr>
              <a:t>Analisis naratif Bahasa Indonesia: potensi, risiko, strategi masuk, dan konteks skala bisnis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0248" y="4160520"/>
            <a:ext cx="3749039" cy="16002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0248" y="4160520"/>
            <a:ext cx="3749039" cy="54864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0248" y="4160520"/>
            <a:ext cx="73152" cy="16002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53128" y="427024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2B"/>
                </a:solidFill>
                <a:latin typeface="Calibri"/>
              </a:rPr>
              <a:t>Export Laporan PDF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53128" y="4636008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D4"/>
                </a:solidFill>
                <a:latin typeface="Calibri"/>
              </a:rPr>
              <a:t>Laporan lengkap siap presentasi ke partner atau investor — 1 klik download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0456" y="4160520"/>
            <a:ext cx="3749039" cy="16002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0456" y="4160520"/>
            <a:ext cx="3749039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20456" y="4160520"/>
            <a:ext cx="73152" cy="1600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03336" y="427024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Riwayat &amp; Perbandingan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03336" y="4636008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D4"/>
                </a:solidFill>
                <a:latin typeface="Calibri"/>
              </a:rPr>
              <a:t>Simpan analisis, bandingkan beberapa lokasi, akses dari sesi mana pun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19963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596"/>
                </a:solidFill>
                <a:latin typeface="Calibri"/>
              </a:rPr>
              <a:t>Kategori: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63040" y="6199632"/>
            <a:ext cx="1600200" cy="292608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508760" y="621792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🍗 Ayam Goreng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46120" y="6199632"/>
            <a:ext cx="1600200" cy="292608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91839" y="621792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☕ Kopi &amp; Cafe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0" y="6199632"/>
            <a:ext cx="1600200" cy="292608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74920" y="621792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🍜 Mie &amp; Bakso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12279" y="6199632"/>
            <a:ext cx="1600200" cy="292608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7999" y="621792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🧃 Minuman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95360" y="6199632"/>
            <a:ext cx="1600200" cy="292608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41080" y="621792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🍔 Burger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378440" y="6199632"/>
            <a:ext cx="1600200" cy="292608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424160" y="621792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+ Lainnya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596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2B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Alur Analisis AtlasAI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30000" cy="254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25880"/>
            <a:ext cx="2286000" cy="45720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2286000" cy="54864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417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6B2B"/>
                </a:solidFill>
                <a:latin typeface="Calibr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84831"/>
            <a:ext cx="2011680" cy="2540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217627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User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2697480"/>
            <a:ext cx="2066543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B0B8D4"/>
                </a:solidFill>
                <a:latin typeface="Calibri"/>
              </a:rPr>
              <a:t>Pilih kategori bisnis, tandai lokasi di peta interaktif, set radius &amp; skala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6B2B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1325880"/>
            <a:ext cx="2286000" cy="45720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6040" y="1325880"/>
            <a:ext cx="228600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1417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B82F6"/>
                </a:solidFill>
                <a:latin typeface="Calibri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2084831"/>
            <a:ext cx="2011680" cy="2540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97480" y="217627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Data Collection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5768" y="2697480"/>
            <a:ext cx="2066543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B0B8D4"/>
                </a:solidFill>
                <a:latin typeface="Calibri"/>
              </a:rPr>
              <a:t>Parallel fetch: Overpass API (OSM amenities, transport) + Neon DB (ESB competitors, benchmarks, demographics)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6B2B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1325880"/>
            <a:ext cx="2286000" cy="45720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92040" y="1325880"/>
            <a:ext cx="22860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79" y="1417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9E0B"/>
                </a:solidFill>
                <a:latin typeface="Calibri"/>
              </a:rPr>
              <a:t>03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2084831"/>
            <a:ext cx="2011680" cy="2540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83479" y="217627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Scoring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01768" y="2697480"/>
            <a:ext cx="2066543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B0B8D4"/>
                </a:solidFill>
                <a:latin typeface="Calibri"/>
              </a:rPr>
              <a:t>5 dimensi dihitung: Traffic (OSM), Competition (ESB DB), Accessibility (OSM), Population (BPS), Purchasing Power (BPS)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6B2B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1325880"/>
            <a:ext cx="2286000" cy="45720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8040" y="1325880"/>
            <a:ext cx="22860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9479" y="1417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0B981"/>
                </a:solidFill>
                <a:latin typeface="Calibri"/>
              </a:rPr>
              <a:t>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2084831"/>
            <a:ext cx="2011680" cy="2540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69479" y="217627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87768" y="2697480"/>
            <a:ext cx="2066543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B0B8D4"/>
                </a:solidFill>
                <a:latin typeface="Calibri"/>
              </a:rPr>
              <a:t>Context-aware recommendation engine menghasilkan narasi Bahasa Indonesia berdasarkan skor + kategori + skala bisnis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6B2B"/>
                </a:solidFill>
                <a:latin typeface="Calibri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64040" y="1325880"/>
            <a:ext cx="2286000" cy="45720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64040" y="1325880"/>
            <a:ext cx="2286000" cy="54864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55480" y="1417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6B2B"/>
                </a:solidFill>
                <a:latin typeface="Calibri"/>
              </a:rPr>
              <a:t>05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01200" y="2084831"/>
            <a:ext cx="2011680" cy="2540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55480" y="217627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Results Delivery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73767" y="2697480"/>
            <a:ext cx="2066543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B0B8D4"/>
                </a:solidFill>
                <a:latin typeface="Calibri"/>
              </a:rPr>
              <a:t>Skor, grade, peta kompetitor, estimasi profit, tag insight, rekomendasi — tersedia dalam &lt;10 detik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6080760"/>
            <a:ext cx="11430000" cy="5486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144768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596"/>
                </a:solidFill>
                <a:latin typeface="Calibri"/>
              </a:rPr>
              <a:t>Data Sources: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28800" y="6144768"/>
            <a:ext cx="1783080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74519" y="6163055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Overpass API (OSM)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49039" y="6144768"/>
            <a:ext cx="1783080" cy="292608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59" y="6163055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Neon PostgreSQL (ESB)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0" y="6144768"/>
            <a:ext cx="1783080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15000" y="6163055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BPS Open Data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89520" y="6144768"/>
            <a:ext cx="1783080" cy="2926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35240" y="6163055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TypeORM QueryBuilder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509760" y="6144768"/>
            <a:ext cx="1783080" cy="292608"/>
          </a:xfrm>
          <a:prstGeom prst="rect">
            <a:avLst/>
          </a:prstGeom>
          <a:solidFill>
            <a:srgbClr val="B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55480" y="6163055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Next.js API Routes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596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2B"/>
                </a:solidFill>
                <a:latin typeface="Calibri"/>
              </a:rPr>
              <a:t>SCORING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5 Dimensi Analisis Lokasi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30000" cy="254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8686800" cy="9144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80160"/>
            <a:ext cx="73152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80467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804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3533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Traffic Pejalan Kaki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73736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B8D4"/>
                </a:solidFill>
                <a:latin typeface="Calibri"/>
              </a:rPr>
              <a:t>Jumlah ameniti bisnis (restoran, toko, kantor) di area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554480"/>
            <a:ext cx="914400" cy="27432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1572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OSM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53619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B7596"/>
                </a:solidFill>
                <a:latin typeface="Calibri"/>
              </a:rPr>
              <a:t>Formula: 20 + amenityCount × 3.5, max 95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084831"/>
            <a:ext cx="8686800" cy="50292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084831"/>
            <a:ext cx="6775704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304288"/>
            <a:ext cx="8686800" cy="9144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304288"/>
            <a:ext cx="73152" cy="914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395728"/>
            <a:ext cx="80467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395728"/>
            <a:ext cx="804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377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Tingkat Persaingan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276148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B8D4"/>
                </a:solidFill>
                <a:latin typeface="Calibri"/>
              </a:rPr>
              <a:t>Kompetitor aktual vs benchmark kepadatan kategori di radius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2578608"/>
            <a:ext cx="914400" cy="27432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15000" y="2596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ESB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5603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B7596"/>
                </a:solidFill>
                <a:latin typeface="Calibri"/>
              </a:rPr>
              <a:t>Formula: 90 - ratio×37.5; adjusted ±5 by skala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108960"/>
            <a:ext cx="8686800" cy="50292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3108960"/>
            <a:ext cx="3909060" cy="502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3328416"/>
            <a:ext cx="8686800" cy="9144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3328416"/>
            <a:ext cx="73152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419856"/>
            <a:ext cx="804672" cy="7315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419856"/>
            <a:ext cx="804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34015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Aksesibilitas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378561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B8D4"/>
                </a:solidFill>
                <a:latin typeface="Calibri"/>
              </a:rPr>
              <a:t>Transport nodes: halte bus, stasiun, terminal, parkir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3602736"/>
            <a:ext cx="914400" cy="27432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5000" y="362102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OSM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358444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B7596"/>
                </a:solidFill>
                <a:latin typeface="Calibri"/>
              </a:rPr>
              <a:t>Formula: 20 + transportCount × 3.5, max 95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133088"/>
            <a:ext cx="8686800" cy="50292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" y="4133088"/>
            <a:ext cx="7123176" cy="5029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" y="4352544"/>
            <a:ext cx="8686800" cy="9144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0040" y="4352544"/>
            <a:ext cx="73152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4443983"/>
            <a:ext cx="80467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4443983"/>
            <a:ext cx="804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63040" y="442569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Kepadatan Penduduk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63040" y="480974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B8D4"/>
                </a:solidFill>
                <a:latin typeface="Calibri"/>
              </a:rPr>
              <a:t>Data sensus BPS 2020 — jiwa/km² per kelurahan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0" y="4626864"/>
            <a:ext cx="914400" cy="27432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15000" y="4645151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BPS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66560" y="46085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B7596"/>
                </a:solidFill>
                <a:latin typeface="Calibri"/>
              </a:rPr>
              <a:t>Formula: 25 + density/310, max 90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5157216"/>
            <a:ext cx="8686800" cy="50292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0040" y="5157216"/>
            <a:ext cx="5820156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20040" y="5376672"/>
            <a:ext cx="8686800" cy="9144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20040" y="5376672"/>
            <a:ext cx="73152" cy="9144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02920" y="5468112"/>
            <a:ext cx="804672" cy="73152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5468112"/>
            <a:ext cx="804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63040" y="5449824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2B"/>
                </a:solidFill>
                <a:latin typeface="Calibri"/>
              </a:rPr>
              <a:t>Daya Beli Area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63040" y="583387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B8D4"/>
                </a:solidFill>
                <a:latin typeface="Calibri"/>
              </a:rPr>
              <a:t>Income index BPS per kecamatan (0–100)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0" y="5650992"/>
            <a:ext cx="914400" cy="27432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15000" y="56692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BPS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632704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B7596"/>
                </a:solidFill>
                <a:latin typeface="Calibri"/>
              </a:rPr>
              <a:t>Formula: Passed directly (BPS index)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6181344"/>
            <a:ext cx="8686800" cy="50292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0040" y="6181344"/>
            <a:ext cx="6167628" cy="50292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89720" y="1280160"/>
            <a:ext cx="2743200" cy="457200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35440" y="137160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 Thresholds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81160" y="1737360"/>
            <a:ext cx="2468880" cy="127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235440" y="1874519"/>
            <a:ext cx="2606040" cy="749808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235440" y="1874519"/>
            <a:ext cx="26060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281160" y="194767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0B981"/>
                </a:solidFill>
                <a:latin typeface="Calibri"/>
              </a:rPr>
              <a:t>≥ 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81160" y="2276856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D4"/>
                </a:solidFill>
                <a:latin typeface="Calibri"/>
              </a:rPr>
              <a:t>Sangat Potensial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235440" y="2788920"/>
            <a:ext cx="2606040" cy="749808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235440" y="2788920"/>
            <a:ext cx="260604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281160" y="286207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B82F6"/>
                </a:solidFill>
                <a:latin typeface="Calibri"/>
              </a:rPr>
              <a:t>≥ 60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81160" y="3191256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D4"/>
                </a:solidFill>
                <a:latin typeface="Calibri"/>
              </a:rPr>
              <a:t>Potensi Bagus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235440" y="3703320"/>
            <a:ext cx="2606040" cy="749808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235440" y="3703320"/>
            <a:ext cx="26060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281160" y="377647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  <a:latin typeface="Calibri"/>
              </a:rPr>
              <a:t>≥ 45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81160" y="4105656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D4"/>
                </a:solidFill>
                <a:latin typeface="Calibri"/>
              </a:rPr>
              <a:t>Cukup Potensial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235440" y="4617720"/>
            <a:ext cx="2606040" cy="749808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235440" y="4617720"/>
            <a:ext cx="260604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281160" y="469087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F4444"/>
                </a:solidFill>
                <a:latin typeface="Calibri"/>
              </a:rPr>
              <a:t>&lt; 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81160" y="5020056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D4"/>
                </a:solidFill>
                <a:latin typeface="Calibri"/>
              </a:rPr>
              <a:t>Kurang Ideal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0040" y="60807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B7596"/>
                </a:solidFill>
                <a:latin typeface="Calibri"/>
              </a:rPr>
              <a:t>Overall = rata-rata dimensi yang tersedia (OSM bisa null jika Overpass timeout — graceful fallback)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596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B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L"/>
          <p:cNvSpPr txBox="1"/>
          <p:nvPr/>
        </p:nvSpPr>
        <p:spPr>
          <a:xfrm>
            <a:off x="365760" y="228600"/>
            <a:ext cx="4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FF6B2B"/>
                </a:solidFill>
                <a:latin typeface="Calibri"/>
              </a:rPr>
              <a:t>LANDASAN TEORI</a:t>
            </a:r>
          </a:p>
        </p:txBody>
      </p:sp>
      <p:sp>
        <p:nvSpPr>
          <p:cNvPr id="4" name="TT"/>
          <p:cNvSpPr txBox="1"/>
          <p:nvPr/>
        </p:nvSpPr>
        <p:spPr>
          <a:xfrm>
            <a:off x="365760" y="502920"/>
            <a:ext cx="1100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3 Metode Ilmiah yang Mendasari AtlasAI</a:t>
            </a:r>
          </a:p>
        </p:txBody>
      </p:sp>
      <p:sp>
        <p:nvSpPr>
          <p:cNvPr id="5" name="SE"/>
          <p:cNvSpPr/>
          <p:nvPr/>
        </p:nvSpPr>
        <p:spPr>
          <a:xfrm>
            <a:off x="365760" y="1097280"/>
            <a:ext cx="11430000" cy="254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Bg"/>
          <p:cNvSpPr/>
          <p:nvPr/>
        </p:nvSpPr>
        <p:spPr>
          <a:xfrm>
            <a:off x="365760" y="1195200"/>
            <a:ext cx="3683400" cy="5206200"/>
          </a:xfrm>
          <a:prstGeom prst="rect">
            <a:avLst/>
          </a:prstGeom>
          <a:solidFill>
            <a:srgbClr val="171C2F"/>
          </a:solidFill>
          <a:ln w="12700">
            <a:solidFill>
              <a:srgbClr val="2D3D5A"/>
            </a:solidFill>
          </a:ln>
        </p:spPr>
        <p:txBody>
          <a:bodyPr/>
          <a:lstStyle/>
          <a:p/>
        </p:txBody>
      </p:sp>
      <p:sp>
        <p:nvSpPr>
          <p:cNvPr id="11" name="St"/>
          <p:cNvSpPr/>
          <p:nvPr/>
        </p:nvSpPr>
        <p:spPr>
          <a:xfrm>
            <a:off x="365760" y="1195200"/>
            <a:ext cx="3683400" cy="1016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m"/>
          <p:cNvSpPr txBox="1"/>
          <p:nvPr/>
        </p:nvSpPr>
        <p:spPr>
          <a:xfrm>
            <a:off x="406400" y="1321960"/>
            <a:ext cx="36021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 i="0">
                <a:solidFill>
                  <a:srgbClr val="FF6B2B"/>
                </a:solidFill>
                <a:latin typeface="Calibri"/>
              </a:rPr>
              <a:t>METODE 1</a:t>
            </a:r>
          </a:p>
        </p:txBody>
      </p:sp>
      <p:sp>
        <p:nvSpPr>
          <p:cNvPr id="13" name="Ti"/>
          <p:cNvSpPr txBox="1"/>
          <p:nvPr/>
        </p:nvSpPr>
        <p:spPr>
          <a:xfrm>
            <a:off x="406400" y="1580000"/>
            <a:ext cx="3602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  <a:latin typeface="Calibri"/>
              </a:rPr>
              <a:t>AHP</a:t>
            </a:r>
          </a:p>
          <a:p>
            <a:r>
              <a:rPr sz="1100" b="0" i="0">
                <a:solidFill>
                  <a:srgbClr val="94A3B8"/>
                </a:solidFill>
                <a:latin typeface="Calibri"/>
              </a:rPr>
              <a:t>Analytic Hierarchy Process</a:t>
            </a:r>
          </a:p>
        </p:txBody>
      </p:sp>
      <p:sp>
        <p:nvSpPr>
          <p:cNvPr id="14" name="Wl"/>
          <p:cNvSpPr txBox="1"/>
          <p:nvPr/>
        </p:nvSpPr>
        <p:spPr>
          <a:xfrm>
            <a:off x="406400" y="2090000"/>
            <a:ext cx="36021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06B6D4"/>
                </a:solidFill>
                <a:latin typeface="Calibri"/>
              </a:rPr>
              <a:t>Digunakan untuk</a:t>
            </a:r>
          </a:p>
        </p:txBody>
      </p:sp>
      <p:sp>
        <p:nvSpPr>
          <p:cNvPr id="15" name="De"/>
          <p:cNvSpPr txBox="1"/>
          <p:nvPr/>
        </p:nvSpPr>
        <p:spPr>
          <a:xfrm>
            <a:off x="406400" y="2320000"/>
            <a:ext cx="360212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E2E8F0"/>
                </a:solidFill>
                <a:latin typeface="Calibri"/>
              </a:rPr>
              <a:t>Menghitung bobot relatif 5 dimensi skor lokasi menjadi Overall Score 0-100 yang transparan dan terukur.</a:t>
            </a:r>
          </a:p>
        </p:txBody>
      </p:sp>
      <p:sp>
        <p:nvSpPr>
          <p:cNvPr id="16" name="FL"/>
          <p:cNvSpPr txBox="1"/>
          <p:nvPr/>
        </p:nvSpPr>
        <p:spPr>
          <a:xfrm>
            <a:off x="406400" y="2860000"/>
            <a:ext cx="36021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06B6D4"/>
                </a:solidFill>
                <a:latin typeface="Calibri"/>
              </a:rPr>
              <a:t>Rumus (Weighted Average)</a:t>
            </a:r>
          </a:p>
        </p:txBody>
      </p:sp>
      <p:sp>
        <p:nvSpPr>
          <p:cNvPr id="17" name="FB"/>
          <p:cNvSpPr/>
          <p:nvPr/>
        </p:nvSpPr>
        <p:spPr>
          <a:xfrm>
            <a:off x="406400" y="3090000"/>
            <a:ext cx="3602120" cy="580000"/>
          </a:xfrm>
          <a:prstGeom prst="rect">
            <a:avLst/>
          </a:prstGeom>
          <a:solidFill>
            <a:srgbClr val="0D111E"/>
          </a:solidFill>
          <a:ln w="9525">
            <a:solidFill>
              <a:srgbClr val="FF6B2B"/>
            </a:solidFill>
          </a:ln>
        </p:spPr>
        <p:txBody>
          <a:bodyPr lIns="91440" rIns="91440" tIns="45720" bIns="45720" wrap="square">
            <a:normAutofit/>
          </a:bodyPr>
          <a:lstStyle/>
          <a:p>
            <a:r>
              <a:rPr sz="950" b="1" i="0">
                <a:solidFill>
                  <a:srgbClr val="FF6B2B"/>
                </a:solidFill>
                <a:latin typeface="Courier New"/>
              </a:rPr>
              <a:t>S = Sigma(Wi x Si)</a:t>
            </a:r>
          </a:p>
          <a:p>
            <a:r>
              <a:rPr sz="800" b="0" i="0">
                <a:solidFill>
                  <a:srgbClr val="94A3B8"/>
                </a:solidFill>
                <a:latin typeface="Courier New"/>
              </a:rPr>
              <a:t>Traffic 30%  |  Persaingan 25%</a:t>
            </a:r>
          </a:p>
          <a:p>
            <a:r>
              <a:rPr sz="800" b="0" i="0">
                <a:solidFill>
                  <a:srgbClr val="94A3B8"/>
                </a:solidFill>
                <a:latin typeface="Courier New"/>
              </a:rPr>
              <a:t>Aksesibilitas 20%  |  Populasi 15%</a:t>
            </a:r>
          </a:p>
          <a:p>
            <a:r>
              <a:rPr sz="800" b="0" i="0">
                <a:solidFill>
                  <a:srgbClr val="94A3B8"/>
                </a:solidFill>
                <a:latin typeface="Courier New"/>
              </a:rPr>
              <a:t>Daya Beli 10%</a:t>
            </a:r>
          </a:p>
        </p:txBody>
      </p:sp>
      <p:sp>
        <p:nvSpPr>
          <p:cNvPr id="18" name="SL"/>
          <p:cNvSpPr txBox="1"/>
          <p:nvPr/>
        </p:nvSpPr>
        <p:spPr>
          <a:xfrm>
            <a:off x="406400" y="3770000"/>
            <a:ext cx="36021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06B6D4"/>
                </a:solidFill>
                <a:latin typeface="Calibri"/>
              </a:rPr>
              <a:t>Skala Grade</a:t>
            </a:r>
          </a:p>
        </p:txBody>
      </p:sp>
      <p:sp>
        <p:nvSpPr>
          <p:cNvPr id="19" name="SD"/>
          <p:cNvSpPr txBox="1"/>
          <p:nvPr/>
        </p:nvSpPr>
        <p:spPr>
          <a:xfrm>
            <a:off x="406400" y="3990000"/>
            <a:ext cx="360212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94A3B8"/>
                </a:solidFill>
                <a:latin typeface="Calibri"/>
              </a:rPr>
              <a:t>≥75 Sangat Potensial  |≥60 Potensi Bagus</a:t>
            </a:r>
          </a:p>
          <a:p>
            <a:r>
              <a:rPr sz="850" b="0" i="0">
                <a:solidFill>
                  <a:srgbClr val="94A3B8"/>
                </a:solidFill>
                <a:latin typeface="Calibri"/>
              </a:rPr>
              <a:t>≥45 Cukup Potensial  | &lt;45 Kurang Ideal</a:t>
            </a:r>
          </a:p>
        </p:txBody>
      </p:sp>
      <p:sp>
        <p:nvSpPr>
          <p:cNvPr id="20" name="Rf"/>
          <p:cNvSpPr txBox="1"/>
          <p:nvPr/>
        </p:nvSpPr>
        <p:spPr>
          <a:xfrm>
            <a:off x="406400" y="5900000"/>
            <a:ext cx="36021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" b="0" i="1">
                <a:solidFill>
                  <a:srgbClr val="64748B"/>
                </a:solidFill>
                <a:latin typeface="Calibri"/>
              </a:rPr>
              <a:t>Timor &amp; Sipahi (2005) — The Business Review</a:t>
            </a:r>
          </a:p>
          <a:p>
            <a:r>
              <a:rPr sz="720" b="0" i="1">
                <a:solidFill>
                  <a:srgbClr val="64748B"/>
                </a:solidFill>
                <a:latin typeface="Calibri"/>
              </a:rPr>
              <a:t>Tzeng et al. (2002) — Int'l J. Hospitality Mgmt.</a:t>
            </a:r>
          </a:p>
        </p:txBody>
      </p:sp>
      <p:sp>
        <p:nvSpPr>
          <p:cNvPr id="30" name="Bg"/>
          <p:cNvSpPr/>
          <p:nvPr/>
        </p:nvSpPr>
        <p:spPr>
          <a:xfrm>
            <a:off x="4231560" y="1195200"/>
            <a:ext cx="3683400" cy="5206200"/>
          </a:xfrm>
          <a:prstGeom prst="rect">
            <a:avLst/>
          </a:prstGeom>
          <a:solidFill>
            <a:srgbClr val="171C2F"/>
          </a:solidFill>
          <a:ln w="12700">
            <a:solidFill>
              <a:srgbClr val="2D3D5A"/>
            </a:solidFill>
          </a:ln>
        </p:spPr>
        <p:txBody>
          <a:bodyPr/>
          <a:lstStyle/>
          <a:p/>
        </p:txBody>
      </p:sp>
      <p:sp>
        <p:nvSpPr>
          <p:cNvPr id="31" name="St"/>
          <p:cNvSpPr/>
          <p:nvPr/>
        </p:nvSpPr>
        <p:spPr>
          <a:xfrm>
            <a:off x="4231560" y="1195200"/>
            <a:ext cx="3683400" cy="1016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Nm"/>
          <p:cNvSpPr txBox="1"/>
          <p:nvPr/>
        </p:nvSpPr>
        <p:spPr>
          <a:xfrm>
            <a:off x="4272200" y="1321960"/>
            <a:ext cx="36021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 i="0">
                <a:solidFill>
                  <a:srgbClr val="FF6B2B"/>
                </a:solidFill>
                <a:latin typeface="Calibri"/>
              </a:rPr>
              <a:t>METODE 2</a:t>
            </a:r>
          </a:p>
        </p:txBody>
      </p:sp>
      <p:sp>
        <p:nvSpPr>
          <p:cNvPr id="33" name="Ti"/>
          <p:cNvSpPr txBox="1"/>
          <p:nvPr/>
        </p:nvSpPr>
        <p:spPr>
          <a:xfrm>
            <a:off x="4272200" y="1580000"/>
            <a:ext cx="3602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  <a:latin typeface="Calibri"/>
              </a:rPr>
              <a:t>Huff Gravity Model</a:t>
            </a:r>
          </a:p>
          <a:p>
            <a:r>
              <a:rPr sz="1100" b="0" i="0">
                <a:solidFill>
                  <a:srgbClr val="94A3B8"/>
                </a:solidFill>
                <a:latin typeface="Calibri"/>
              </a:rPr>
              <a:t>Probabilistic Demand Estimation</a:t>
            </a:r>
          </a:p>
        </p:txBody>
      </p:sp>
      <p:sp>
        <p:nvSpPr>
          <p:cNvPr id="34" name="Wl"/>
          <p:cNvSpPr txBox="1"/>
          <p:nvPr/>
        </p:nvSpPr>
        <p:spPr>
          <a:xfrm>
            <a:off x="4272200" y="2090000"/>
            <a:ext cx="36021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06B6D4"/>
                </a:solidFill>
                <a:latin typeface="Calibri"/>
              </a:rPr>
              <a:t>Digunakan untuk</a:t>
            </a:r>
          </a:p>
        </p:txBody>
      </p:sp>
      <p:sp>
        <p:nvSpPr>
          <p:cNvPr id="35" name="De"/>
          <p:cNvSpPr txBox="1"/>
          <p:nvPr/>
        </p:nvSpPr>
        <p:spPr>
          <a:xfrm>
            <a:off x="4272200" y="2320000"/>
            <a:ext cx="360212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E2E8F0"/>
                </a:solidFill>
                <a:latin typeface="Calibri"/>
              </a:rPr>
              <a:t>Menghitung probabilitas kunjungan pelanggan ke bisnis baru vs kompetitor — menghasilkan capture rate &amp; estimasi revenue.</a:t>
            </a:r>
          </a:p>
        </p:txBody>
      </p:sp>
      <p:sp>
        <p:nvSpPr>
          <p:cNvPr id="36" name="FL"/>
          <p:cNvSpPr txBox="1"/>
          <p:nvPr/>
        </p:nvSpPr>
        <p:spPr>
          <a:xfrm>
            <a:off x="4272200" y="2860000"/>
            <a:ext cx="36021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06B6D4"/>
                </a:solidFill>
                <a:latin typeface="Calibri"/>
              </a:rPr>
              <a:t>Rumus (Gravity Model)</a:t>
            </a:r>
          </a:p>
        </p:txBody>
      </p:sp>
      <p:sp>
        <p:nvSpPr>
          <p:cNvPr id="37" name="FB"/>
          <p:cNvSpPr/>
          <p:nvPr/>
        </p:nvSpPr>
        <p:spPr>
          <a:xfrm>
            <a:off x="4272200" y="3090000"/>
            <a:ext cx="3602120" cy="580000"/>
          </a:xfrm>
          <a:prstGeom prst="rect">
            <a:avLst/>
          </a:prstGeom>
          <a:solidFill>
            <a:srgbClr val="0D111E"/>
          </a:solidFill>
          <a:ln w="9525">
            <a:solidFill>
              <a:srgbClr val="FF6B2B"/>
            </a:solidFill>
          </a:ln>
        </p:spPr>
        <p:txBody>
          <a:bodyPr lIns="91440" rIns="91440" tIns="45720" bIns="45720" wrap="square">
            <a:normAutofit/>
          </a:bodyPr>
          <a:lstStyle/>
          <a:p>
            <a:r>
              <a:rPr sz="950" b="1" i="0">
                <a:solidFill>
                  <a:srgbClr val="FF6B2B"/>
                </a:solidFill>
                <a:latin typeface="Courier New"/>
              </a:rPr>
              <a:t>Pi = (A/T^lambda) / Sigma(A/T^lambda)</a:t>
            </a:r>
          </a:p>
          <a:p>
            <a:r>
              <a:rPr sz="800" b="0" i="0">
                <a:solidFill>
                  <a:srgbClr val="94A3B8"/>
                </a:solidFill>
                <a:latin typeface="Courier New"/>
              </a:rPr>
              <a:t>A = attractiveness outlet ESB</a:t>
            </a:r>
          </a:p>
          <a:p>
            <a:r>
              <a:rPr sz="800" b="0" i="0">
                <a:solidFill>
                  <a:srgbClr val="94A3B8"/>
                </a:solidFill>
                <a:latin typeface="Courier New"/>
              </a:rPr>
              <a:t>lambda=2 (dikalibrasi dari ESB data)</a:t>
            </a:r>
          </a:p>
          <a:p>
            <a:r>
              <a:rPr sz="800" b="0" i="0">
                <a:solidFill>
                  <a:srgbClr val="94A3B8"/>
                </a:solidFill>
                <a:latin typeface="Courier New"/>
              </a:rPr>
              <a:t>Revenue = CR x ATV</a:t>
            </a:r>
          </a:p>
        </p:txBody>
      </p:sp>
      <p:sp>
        <p:nvSpPr>
          <p:cNvPr id="38" name="SL"/>
          <p:cNvSpPr txBox="1"/>
          <p:nvPr/>
        </p:nvSpPr>
        <p:spPr>
          <a:xfrm>
            <a:off x="4272200" y="3770000"/>
            <a:ext cx="36021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06B6D4"/>
                </a:solidFill>
                <a:latin typeface="Calibri"/>
              </a:rPr>
              <a:t>Sumber Kalibrasi</a:t>
            </a:r>
          </a:p>
        </p:txBody>
      </p:sp>
      <p:sp>
        <p:nvSpPr>
          <p:cNvPr id="39" name="SD"/>
          <p:cNvSpPr txBox="1"/>
          <p:nvPr/>
        </p:nvSpPr>
        <p:spPr>
          <a:xfrm>
            <a:off x="4272200" y="3990000"/>
            <a:ext cx="360212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94A3B8"/>
                </a:solidFill>
                <a:latin typeface="Calibri"/>
              </a:rPr>
              <a:t>λ dikalibrasi dari data historis 30.000+ outlet ESB aktif per kota.</a:t>
            </a:r>
          </a:p>
        </p:txBody>
      </p:sp>
      <p:sp>
        <p:nvSpPr>
          <p:cNvPr id="40" name="Rf"/>
          <p:cNvSpPr txBox="1"/>
          <p:nvPr/>
        </p:nvSpPr>
        <p:spPr>
          <a:xfrm>
            <a:off x="4272200" y="5900000"/>
            <a:ext cx="36021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" b="0" i="1">
                <a:solidFill>
                  <a:srgbClr val="64748B"/>
                </a:solidFill>
                <a:latin typeface="Calibri"/>
              </a:rPr>
              <a:t>Huff (1963) — Land Economics, 39, 81–90</a:t>
            </a:r>
          </a:p>
          <a:p>
            <a:r>
              <a:rPr sz="720" b="0" i="1">
                <a:solidFill>
                  <a:srgbClr val="64748B"/>
                </a:solidFill>
                <a:latin typeface="Calibri"/>
              </a:rPr>
              <a:t>ResearchGate (2025) — ML Revenue Estimation</a:t>
            </a:r>
          </a:p>
        </p:txBody>
      </p:sp>
      <p:sp>
        <p:nvSpPr>
          <p:cNvPr id="50" name="Bg"/>
          <p:cNvSpPr/>
          <p:nvPr/>
        </p:nvSpPr>
        <p:spPr>
          <a:xfrm>
            <a:off x="8097360" y="1195200"/>
            <a:ext cx="3683400" cy="5206200"/>
          </a:xfrm>
          <a:prstGeom prst="rect">
            <a:avLst/>
          </a:prstGeom>
          <a:solidFill>
            <a:srgbClr val="171C2F"/>
          </a:solidFill>
          <a:ln w="12700">
            <a:solidFill>
              <a:srgbClr val="2D3D5A"/>
            </a:solidFill>
          </a:ln>
        </p:spPr>
        <p:txBody>
          <a:bodyPr/>
          <a:lstStyle/>
          <a:p/>
        </p:txBody>
      </p:sp>
      <p:sp>
        <p:nvSpPr>
          <p:cNvPr id="51" name="St"/>
          <p:cNvSpPr/>
          <p:nvPr/>
        </p:nvSpPr>
        <p:spPr>
          <a:xfrm>
            <a:off x="8097360" y="1195200"/>
            <a:ext cx="3683400" cy="1016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Nm"/>
          <p:cNvSpPr txBox="1"/>
          <p:nvPr/>
        </p:nvSpPr>
        <p:spPr>
          <a:xfrm>
            <a:off x="8138000" y="1321960"/>
            <a:ext cx="36021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 i="0">
                <a:solidFill>
                  <a:srgbClr val="FF6B2B"/>
                </a:solidFill>
                <a:latin typeface="Calibri"/>
              </a:rPr>
              <a:t>METODE 3</a:t>
            </a:r>
          </a:p>
        </p:txBody>
      </p:sp>
      <p:sp>
        <p:nvSpPr>
          <p:cNvPr id="53" name="Ti"/>
          <p:cNvSpPr txBox="1"/>
          <p:nvPr/>
        </p:nvSpPr>
        <p:spPr>
          <a:xfrm>
            <a:off x="8138000" y="1580000"/>
            <a:ext cx="36021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  <a:latin typeface="Calibri"/>
              </a:rPr>
              <a:t>Analog Store Method</a:t>
            </a:r>
          </a:p>
          <a:p>
            <a:r>
              <a:rPr sz="1100" b="0" i="0">
                <a:solidFill>
                  <a:srgbClr val="94A3B8"/>
                </a:solidFill>
                <a:latin typeface="Calibri"/>
              </a:rPr>
              <a:t>Empirical Revenue Estimation</a:t>
            </a:r>
          </a:p>
        </p:txBody>
      </p:sp>
      <p:sp>
        <p:nvSpPr>
          <p:cNvPr id="54" name="Wl"/>
          <p:cNvSpPr txBox="1"/>
          <p:nvPr/>
        </p:nvSpPr>
        <p:spPr>
          <a:xfrm>
            <a:off x="8138000" y="2090000"/>
            <a:ext cx="36021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06B6D4"/>
                </a:solidFill>
                <a:latin typeface="Calibri"/>
              </a:rPr>
              <a:t>Digunakan untuk</a:t>
            </a:r>
          </a:p>
        </p:txBody>
      </p:sp>
      <p:sp>
        <p:nvSpPr>
          <p:cNvPr id="55" name="De"/>
          <p:cNvSpPr txBox="1"/>
          <p:nvPr/>
        </p:nvSpPr>
        <p:spPr>
          <a:xfrm>
            <a:off x="8138000" y="2320000"/>
            <a:ext cx="360212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E2E8F0"/>
                </a:solidFill>
                <a:latin typeface="Calibri"/>
              </a:rPr>
              <a:t>Estimasi range profit dari outlet ESB existing yang paling serupa (analog stores) dalam radius analisis yang dipilih.</a:t>
            </a:r>
          </a:p>
        </p:txBody>
      </p:sp>
      <p:sp>
        <p:nvSpPr>
          <p:cNvPr id="56" name="FL"/>
          <p:cNvSpPr txBox="1"/>
          <p:nvPr/>
        </p:nvSpPr>
        <p:spPr>
          <a:xfrm>
            <a:off x="8138000" y="2860000"/>
            <a:ext cx="36021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06B6D4"/>
                </a:solidFill>
                <a:latin typeface="Calibri"/>
              </a:rPr>
              <a:t>Rumus (Percentile Distribution)</a:t>
            </a:r>
          </a:p>
        </p:txBody>
      </p:sp>
      <p:sp>
        <p:nvSpPr>
          <p:cNvPr id="57" name="FB"/>
          <p:cNvSpPr/>
          <p:nvPr/>
        </p:nvSpPr>
        <p:spPr>
          <a:xfrm>
            <a:off x="8138000" y="3090000"/>
            <a:ext cx="3602120" cy="580000"/>
          </a:xfrm>
          <a:prstGeom prst="rect">
            <a:avLst/>
          </a:prstGeom>
          <a:solidFill>
            <a:srgbClr val="0D111E"/>
          </a:solidFill>
          <a:ln w="9525">
            <a:solidFill>
              <a:srgbClr val="FF6B2B"/>
            </a:solidFill>
          </a:ln>
        </p:spPr>
        <p:txBody>
          <a:bodyPr lIns="91440" rIns="91440" tIns="45720" bIns="45720" wrap="square">
            <a:normAutofit/>
          </a:bodyPr>
          <a:lstStyle/>
          <a:p>
            <a:r>
              <a:rPr sz="950" b="1" i="0">
                <a:solidFill>
                  <a:srgbClr val="FF6B2B"/>
                </a:solidFill>
                <a:latin typeface="Courier New"/>
              </a:rPr>
              <a:t>Min = P25(revenue_analog)</a:t>
            </a:r>
          </a:p>
          <a:p>
            <a:r>
              <a:rPr sz="950" b="1" i="0">
                <a:solidFill>
                  <a:srgbClr val="FF6B2B"/>
                </a:solidFill>
                <a:latin typeface="Courier New"/>
              </a:rPr>
              <a:t>Max = P75(revenue_analog)</a:t>
            </a:r>
          </a:p>
          <a:p>
            <a:r>
              <a:rPr sz="800" b="0" i="0">
                <a:solidFill>
                  <a:srgbClr val="94A3B8"/>
                </a:solidFill>
                <a:latin typeface="Courier New"/>
              </a:rPr>
              <a:t>N &gt;= 5 outlet (threshold min.)</a:t>
            </a:r>
          </a:p>
          <a:p>
            <a:r>
              <a:rPr sz="800" b="0" i="0">
                <a:solidFill>
                  <a:srgbClr val="94A3B8"/>
                </a:solidFill>
                <a:latin typeface="Courier New"/>
              </a:rPr>
              <a:t>x0.4 / x1.0 / x2.2 scale multiplier</a:t>
            </a:r>
          </a:p>
        </p:txBody>
      </p:sp>
      <p:sp>
        <p:nvSpPr>
          <p:cNvPr id="58" name="SL"/>
          <p:cNvSpPr txBox="1"/>
          <p:nvPr/>
        </p:nvSpPr>
        <p:spPr>
          <a:xfrm>
            <a:off x="8138000" y="3770000"/>
            <a:ext cx="36021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06B6D4"/>
                </a:solidFill>
                <a:latin typeface="Calibri"/>
              </a:rPr>
              <a:t>Dataset</a:t>
            </a:r>
          </a:p>
        </p:txBody>
      </p:sp>
      <p:sp>
        <p:nvSpPr>
          <p:cNvPr id="59" name="SD"/>
          <p:cNvSpPr txBox="1"/>
          <p:nvPr/>
        </p:nvSpPr>
        <p:spPr>
          <a:xfrm>
            <a:off x="8138000" y="3990000"/>
            <a:ext cx="360212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94A3B8"/>
                </a:solidFill>
                <a:latin typeface="Calibri"/>
              </a:rPr>
              <a:t>30.000+ outlet ESB aktif tersebar di ratusan kota sebagai analog store reference.</a:t>
            </a:r>
          </a:p>
        </p:txBody>
      </p:sp>
      <p:sp>
        <p:nvSpPr>
          <p:cNvPr id="60" name="Rf"/>
          <p:cNvSpPr txBox="1"/>
          <p:nvPr/>
        </p:nvSpPr>
        <p:spPr>
          <a:xfrm>
            <a:off x="8138000" y="5900000"/>
            <a:ext cx="36021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" b="0" i="1">
                <a:solidFill>
                  <a:srgbClr val="64748B"/>
                </a:solidFill>
                <a:latin typeface="Calibri"/>
              </a:rPr>
              <a:t>Han et al. (2024) — J. Business Research</a:t>
            </a:r>
          </a:p>
          <a:p>
            <a:r>
              <a:rPr sz="720" b="0" i="1">
                <a:solidFill>
                  <a:srgbClr val="64748B"/>
                </a:solidFill>
                <a:latin typeface="Calibri"/>
              </a:rPr>
              <a:t>Song et al. (2025) — ISPRS Geo-Information</a:t>
            </a:r>
          </a:p>
        </p:txBody>
      </p:sp>
      <p:sp>
        <p:nvSpPr>
          <p:cNvPr id="99" name="PN"/>
          <p:cNvSpPr txBox="1"/>
          <p:nvPr/>
        </p:nvSpPr>
        <p:spPr>
          <a:xfrm>
            <a:off x="11200000" y="6553200"/>
            <a:ext cx="900000" cy="2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64748B"/>
                </a:solidFill>
                <a:latin typeface="Calibri"/>
              </a:rPr>
              <a:t>📍 8 / 15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2B"/>
                </a:solidFill>
                <a:latin typeface="Calibri"/>
              </a:rPr>
              <a:t>CORE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Estimasi Profit &amp; Rekomendasi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30000" cy="254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5486400" cy="530352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486400" cy="411480"/>
          </a:xfrm>
          <a:prstGeom prst="rect">
            <a:avLst/>
          </a:prstGeom>
          <a:solidFill>
            <a:srgbClr val="081A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6187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0B981"/>
                </a:solidFill>
                <a:latin typeface="Calibri"/>
              </a:rPr>
              <a:t>Estimasi Profit Berbasis Data ESB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8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0B981"/>
                </a:solidFill>
                <a:latin typeface="Calibri"/>
              </a:rPr>
              <a:t>Rp 18jt – Rp 34jt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8D4"/>
                </a:solidFill>
                <a:latin typeface="Calibri"/>
              </a:rPr>
              <a:t>/ bulan  (skala Menengah)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44368"/>
            <a:ext cx="5120640" cy="2540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0632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B8D4"/>
                </a:solidFill>
                <a:latin typeface="Calibri"/>
              </a:rPr>
              <a:t>Sumber Data: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30632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96"/>
                </a:solidFill>
                <a:latin typeface="Calibri"/>
              </a:rPr>
              <a:t>Kompetitor aktual dalam radius yang dipilih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5661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B8D4"/>
                </a:solidFill>
                <a:latin typeface="Calibri"/>
              </a:rPr>
              <a:t>Metode: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356616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96"/>
                </a:solidFill>
                <a:latin typeface="Calibri"/>
              </a:rPr>
              <a:t>IQR (p25–p75) jika ≥4 kompetitor; min–max jika kurang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690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B8D4"/>
                </a:solidFill>
                <a:latin typeface="Calibri"/>
              </a:rPr>
              <a:t>Scale Multiplier: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406908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96"/>
                </a:solidFill>
                <a:latin typeface="Calibri"/>
              </a:rPr>
              <a:t>Kecil ×0.4 / Menengah ×1.0 / Besar ×2.2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720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B8D4"/>
                </a:solidFill>
                <a:latin typeface="Calibri"/>
              </a:rPr>
              <a:t>Disclaimer: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457200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96"/>
                </a:solidFill>
                <a:latin typeface="Calibri"/>
              </a:rPr>
              <a:t>Berdasarkan 12 outlet ESB sejenis dalam radius 1km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0749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B8D4"/>
                </a:solidFill>
                <a:latin typeface="Calibri"/>
              </a:rPr>
              <a:t>Flag Data Terbatas: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507492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96"/>
                </a:solidFill>
                <a:latin typeface="Calibri"/>
              </a:rPr>
              <a:t>Warning jika &lt; 5 outlet referensi (AC2.3)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5778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B8D4"/>
                </a:solidFill>
                <a:latin typeface="Calibri"/>
              </a:rPr>
              <a:t>Flag Volatilitas: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55778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96"/>
                </a:solidFill>
                <a:latin typeface="Calibri"/>
              </a:rPr>
              <a:t>Warning jika SD &gt; 60% mean (AC2.5)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1234440"/>
            <a:ext cx="5486400" cy="530352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80760" y="1234440"/>
            <a:ext cx="5486400" cy="411480"/>
          </a:xfrm>
          <a:prstGeom prst="rect">
            <a:avLst/>
          </a:prstGeom>
          <a:solidFill>
            <a:srgbClr val="1A0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126187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6B2B"/>
                </a:solidFill>
                <a:latin typeface="Calibri"/>
              </a:rPr>
              <a:t>Rekomendasi AI — Context-Aware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1783080"/>
            <a:ext cx="5212080" cy="19202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1874519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0B8D4"/>
                </a:solidFill>
                <a:latin typeface="Calibri"/>
              </a:rPr>
              <a:t>"Area Menteng Dalam menunjukkan kondisi yang sangat mendukung untuk bisnis Kopi &amp; Cafe. Pasar belum jenuh — hanya 2 kompetitor aktif sementara 67 titik usaha di sekitar membuktikan tingginya aktivitas komersial. Kepadatan 18.500 jiwa/km² dengan daya beli tinggi menjadikan area ini target ideal untuk segmen pekerja kantoran dan komunitas urban..."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385876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B8D4"/>
                </a:solidFill>
                <a:latin typeface="Calibri"/>
              </a:rPr>
              <a:t>Kondisi Skor: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385876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96"/>
                </a:solidFill>
                <a:latin typeface="Calibri"/>
              </a:rPr>
              <a:t>≥75 / 60–74 / 45–59 / &lt;45 → narasi berbeda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445312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B8D4"/>
                </a:solidFill>
                <a:latin typeface="Calibri"/>
              </a:rPr>
              <a:t>Variabel Input: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445312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96"/>
                </a:solidFill>
                <a:latin typeface="Calibri"/>
              </a:rPr>
              <a:t>category, scale, competitionRatio, traffic, demographics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04748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B8D4"/>
                </a:solidFill>
                <a:latin typeface="Calibri"/>
              </a:rPr>
              <a:t>Bahasa: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2440" y="504748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96"/>
                </a:solidFill>
                <a:latin typeface="Calibri"/>
              </a:rPr>
              <a:t>Bahasa Indonesia — natural, actionable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564184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B8D4"/>
                </a:solidFill>
                <a:latin typeface="Calibri"/>
              </a:rPr>
              <a:t>Scale Context: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40" y="564184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96"/>
                </a:solidFill>
                <a:latin typeface="Calibri"/>
              </a:rPr>
              <a:t>Kecil: gerobak/cloud kitchen; Besar: multi-outlet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59436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596"/>
                </a:solidFill>
                <a:latin typeface="Calibri"/>
              </a:rPr>
              <a:t>Tag Insight (max 6):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0" y="5943600"/>
            <a:ext cx="1554480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58200" y="5961888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Traffic Tinggi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31551" y="5943600"/>
            <a:ext cx="1554480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77272" y="5961888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2 Kompetitor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850624" y="5943600"/>
            <a:ext cx="1554480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896344" y="5961888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Akses Baik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3569696" y="5943600"/>
            <a:ext cx="1554480" cy="2926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615416" y="5961888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Area Komersial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596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2B"/>
                </a:solidFill>
                <a:latin typeface="Calibri"/>
              </a:rPr>
              <a:t>TECH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Stack &amp; Arsitektur Teknis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30000" cy="254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3749039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2801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CLIENT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45920"/>
            <a:ext cx="3749039" cy="438912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" y="1719072"/>
            <a:ext cx="3529584" cy="5486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21207" y="1883664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37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Next.js 14 + React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" y="2377439"/>
            <a:ext cx="3529584" cy="5486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1207" y="254203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239572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Leaflet.js (Dark Maps)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" y="3035808"/>
            <a:ext cx="3529584" cy="5486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1207" y="3200400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05409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SSR disabled (Leaflet)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3694176"/>
            <a:ext cx="3529584" cy="5486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7" y="385876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371246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Inline CSS (var tokens)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4352544"/>
            <a:ext cx="3529584" cy="5486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1207" y="451713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370831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Mobile Responsive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" y="5010912"/>
            <a:ext cx="3529584" cy="5486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21207" y="5175504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5029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html2canvas + jsPDF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59" y="32004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596"/>
                </a:solidFill>
                <a:latin typeface="Calibri"/>
              </a:rPr>
              <a:t>⟷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79" y="1280160"/>
            <a:ext cx="3749039" cy="36576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79" y="12801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SERVER LAYER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79" y="1645920"/>
            <a:ext cx="3749039" cy="438912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07407" y="1719072"/>
            <a:ext cx="3529584" cy="5486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498847" y="1883664"/>
            <a:ext cx="109728" cy="109728"/>
          </a:xfrm>
          <a:prstGeom prst="ellipse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1727" y="1737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Next.js API Routes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07407" y="2377439"/>
            <a:ext cx="3529584" cy="5486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498847" y="2542032"/>
            <a:ext cx="109728" cy="109728"/>
          </a:xfrm>
          <a:prstGeom prst="ellipse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81727" y="239572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TypeORM + Migrations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07407" y="3035808"/>
            <a:ext cx="3529584" cy="5486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498847" y="3200400"/>
            <a:ext cx="109728" cy="109728"/>
          </a:xfrm>
          <a:prstGeom prst="ellipse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81727" y="305409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POST /api/analyze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07407" y="3694176"/>
            <a:ext cx="3529584" cy="5486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498847" y="3858768"/>
            <a:ext cx="109728" cy="109728"/>
          </a:xfrm>
          <a:prstGeom prst="ellipse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81727" y="371246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Promise.allSettled()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07407" y="4352544"/>
            <a:ext cx="3529584" cy="5486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498847" y="4517136"/>
            <a:ext cx="109728" cy="109728"/>
          </a:xfrm>
          <a:prstGeom prst="ellipse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81727" y="4370831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Haversine SQL Query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7407" y="5010912"/>
            <a:ext cx="3529584" cy="5486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498847" y="5175504"/>
            <a:ext cx="109728" cy="109728"/>
          </a:xfrm>
          <a:prstGeom prst="ellipse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81727" y="5029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JWT Auth + Sessions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32004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596"/>
                </a:solidFill>
                <a:latin typeface="Calibri"/>
              </a:rPr>
              <a:t>⟷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75319" y="1280160"/>
            <a:ext cx="374903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75319" y="12801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DATA LAYER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75319" y="1645920"/>
            <a:ext cx="3749039" cy="438912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385047" y="1719072"/>
            <a:ext cx="3529584" cy="5486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476488" y="1883664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59367" y="1737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Neon PostgreSQL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85047" y="2377439"/>
            <a:ext cx="3529584" cy="5486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476488" y="2542032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59367" y="239572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Overpass API (OSM)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85047" y="3035808"/>
            <a:ext cx="3529584" cy="5486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476488" y="3200400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59367" y="305409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BPS Open Data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85047" y="3694176"/>
            <a:ext cx="3529584" cy="5486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476488" y="3858768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59367" y="371246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ESB Competitors DB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85047" y="4352544"/>
            <a:ext cx="3529584" cy="5486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476488" y="4517136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59367" y="4370831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Profit Benchmarks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85047" y="5010912"/>
            <a:ext cx="3529584" cy="5486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476488" y="5175504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59367" y="5029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Area Demographics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5870448"/>
            <a:ext cx="11430000" cy="749808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02920" y="594360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0B8D4"/>
                </a:solidFill>
                <a:latin typeface="Calibri"/>
              </a:rPr>
              <a:t>Deployment: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62362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596"/>
                </a:solidFill>
                <a:latin typeface="Calibri"/>
              </a:rPr>
              <a:t>Vercel (Next.js) + Neon Cloud PostgreSQL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29000" y="594360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0B8D4"/>
                </a:solidFill>
                <a:latin typeface="Calibri"/>
              </a:rPr>
              <a:t>DB Migrations: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29000" y="62362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596"/>
                </a:solidFill>
                <a:latin typeface="Calibri"/>
              </a:rPr>
              <a:t>TypeORM CLI — idempotent, runs on Docker entrypoint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55080" y="594360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0B8D4"/>
                </a:solidFill>
                <a:latin typeface="Calibri"/>
              </a:rPr>
              <a:t>HMR Safe: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55080" y="62362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596"/>
                </a:solidFill>
                <a:latin typeface="Calibri"/>
              </a:rPr>
              <a:t>DataSource singleton via globalThis._orm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281160" y="594360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0B8D4"/>
                </a:solidFill>
                <a:latin typeface="Calibri"/>
              </a:rPr>
              <a:t>Graceful Fallback: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81160" y="62362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596"/>
                </a:solidFill>
                <a:latin typeface="Calibri"/>
              </a:rPr>
              <a:t>Overpass timeout → null scores averaged out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596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2B"/>
                </a:solidFill>
                <a:latin typeface="Calibri"/>
              </a:rPr>
              <a:t>PRODUCT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Tampilan Produk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30000" cy="254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3749039" cy="320040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80160"/>
            <a:ext cx="3749039" cy="27432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1344168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1344168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9536" y="1344168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192" y="1600200"/>
            <a:ext cx="3602736" cy="283464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3192" y="2103120"/>
            <a:ext cx="3602736" cy="1828800"/>
          </a:xfrm>
          <a:prstGeom prst="rect">
            <a:avLst/>
          </a:prstGeom>
          <a:solidFill>
            <a:srgbClr val="12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233172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6B2B"/>
                </a:solidFill>
                <a:latin typeface="Calibri"/>
              </a:rPr>
              <a:t>🗺️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246888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6B2B"/>
                </a:solidFill>
                <a:latin typeface="Calibri"/>
              </a:rPr>
              <a:t>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3192" y="1600200"/>
            <a:ext cx="3602736" cy="50292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16642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2B"/>
                </a:solidFill>
                <a:latin typeface="Calibri"/>
              </a:rPr>
              <a:t>Desktop — Sidebar + Map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590288"/>
            <a:ext cx="3749039" cy="201168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6634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Category picker (6 ikon)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96519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Scale selector (Kecil/Menengah/Besar)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26694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Radius slider 200–1500m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568696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Leaflet dark map + pin animasi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7044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Competitor markers on 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1722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Radius circle overlay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79" y="1280160"/>
            <a:ext cx="3749039" cy="320040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79" y="1280160"/>
            <a:ext cx="3749039" cy="27432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434840" y="1344168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36007" y="1344168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37176" y="1344168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70831" y="1600200"/>
            <a:ext cx="3602736" cy="283464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70831" y="2103120"/>
            <a:ext cx="3602736" cy="1828800"/>
          </a:xfrm>
          <a:prstGeom prst="rect">
            <a:avLst/>
          </a:prstGeom>
          <a:solidFill>
            <a:srgbClr val="12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0" y="233172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6B2B"/>
                </a:solidFill>
                <a:latin typeface="Calibri"/>
              </a:rPr>
              <a:t>🗺️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9" y="246888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6B2B"/>
                </a:solidFill>
                <a:latin typeface="Calibri"/>
              </a:rPr>
              <a:t>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70831" y="1600200"/>
            <a:ext cx="3602736" cy="50292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07407" y="16642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2B"/>
                </a:solidFill>
                <a:latin typeface="Calibri"/>
              </a:rPr>
              <a:t>Desktop — Hasil Analisis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97679" y="4590288"/>
            <a:ext cx="3749039" cy="201168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46634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Overall Score circle (0–100)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34840" y="496519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5 dimensi score bars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526694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Grade badge berwarna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34840" y="5568696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Estimasi profit range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4840" y="587044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Tag insight 6 item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61722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Rekomendasi AI narasi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75319" y="1280160"/>
            <a:ext cx="3749039" cy="320040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275319" y="1280160"/>
            <a:ext cx="3749039" cy="27432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412480" y="1344168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613648" y="1344168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814815" y="1344168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348471" y="1600200"/>
            <a:ext cx="3602736" cy="283464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48471" y="2103120"/>
            <a:ext cx="3602736" cy="1828800"/>
          </a:xfrm>
          <a:prstGeom prst="rect">
            <a:avLst/>
          </a:prstGeom>
          <a:solidFill>
            <a:srgbClr val="12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55480" y="233172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6B2B"/>
                </a:solidFill>
                <a:latin typeface="Calibri"/>
              </a:rPr>
              <a:t>🗺️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87000" y="246888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6B2B"/>
                </a:solidFill>
                <a:latin typeface="Calibri"/>
              </a:rPr>
              <a:t>📍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48471" y="1600200"/>
            <a:ext cx="3602736" cy="50292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85047" y="16642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2B"/>
                </a:solidFill>
                <a:latin typeface="Calibri"/>
              </a:rPr>
              <a:t>Mobile — Bottom Sheet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75319" y="4590288"/>
            <a:ext cx="3749039" cy="201168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12480" y="46634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MobileHeader + full-screen search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0" y="496519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Draggable bottom sheet (peek/full)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12480" y="526694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Auto-expand saat analisis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0" y="5568696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Responsif 768px breakpoint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12480" y="587044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Export PDF dari mobile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61722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Riwayat drawer slide-in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" y="6236208"/>
            <a:ext cx="11430000" cy="384048"/>
          </a:xfrm>
          <a:prstGeom prst="rect">
            <a:avLst/>
          </a:prstGeom>
          <a:solidFill>
            <a:srgbClr val="1A0C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6291072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6B2B"/>
                </a:solidFill>
                <a:latin typeface="Calibri"/>
              </a:rPr>
              <a:t>🌐  Live Demo: https://atlas-dsrkzwf4l-dikitaurensias-projects.vercel.app/login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596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2B"/>
                </a:solidFill>
                <a:latin typeface="Calibri"/>
              </a:rPr>
              <a:t>SUCCESS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Target &amp; Ukuran Keberhasilan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30000" cy="254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3749039" cy="192024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80160"/>
            <a:ext cx="3749039" cy="54864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8988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2B"/>
                </a:solidFill>
                <a:latin typeface="Calibri"/>
              </a:rPr>
              <a:t>Feature Adoption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9572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8D4"/>
                </a:solidFill>
                <a:latin typeface="Calibri"/>
              </a:rPr>
              <a:t>eligible merchant pakai AtlasAI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88920"/>
            <a:ext cx="3474720" cy="1270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5292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596"/>
                </a:solidFill>
                <a:latin typeface="Calibri"/>
              </a:rPr>
              <a:t>30 hari post-launch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85292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596"/>
                </a:solidFill>
                <a:latin typeface="Calibri"/>
              </a:rPr>
              <a:t>0%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1280160"/>
            <a:ext cx="3749039" cy="192024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1280160"/>
            <a:ext cx="3749039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38988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Engagement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73736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3x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39572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8D4"/>
                </a:solidFill>
                <a:latin typeface="Calibri"/>
              </a:rPr>
              <a:t>analisis per user per bulan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07408" y="2788920"/>
            <a:ext cx="3474720" cy="1270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07408" y="285292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596"/>
                </a:solidFill>
                <a:latin typeface="Calibri"/>
              </a:rPr>
              <a:t>60 hari post-launch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285292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596"/>
                </a:solidFill>
                <a:latin typeface="Calibri"/>
              </a:rPr>
              <a:t>0 baseline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0456" y="1280160"/>
            <a:ext cx="3749039" cy="192024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0456" y="1280160"/>
            <a:ext cx="3749039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57616" y="138988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Conversion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57616" y="173736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7616" y="239572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8D4"/>
                </a:solidFill>
                <a:latin typeface="Calibri"/>
              </a:rPr>
              <a:t>upgrade ke paket premium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57616" y="2788920"/>
            <a:ext cx="3474720" cy="1270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7616" y="285292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596"/>
                </a:solidFill>
                <a:latin typeface="Calibri"/>
              </a:rPr>
              <a:t>90 hari post-launch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94976" y="285292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596"/>
                </a:solidFill>
                <a:latin typeface="Calibri"/>
              </a:rPr>
              <a:t>0% baseline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50008" y="3383280"/>
            <a:ext cx="3749039" cy="192024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350008" y="3383280"/>
            <a:ext cx="3749039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87168" y="34930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Reliability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87168" y="384048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&lt;2%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87168" y="44988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8D4"/>
                </a:solidFill>
                <a:latin typeface="Calibri"/>
              </a:rPr>
              <a:t>failed analysis error rate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87168" y="4892040"/>
            <a:ext cx="3474720" cy="1270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87168" y="49560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596"/>
                </a:solidFill>
                <a:latin typeface="Calibri"/>
              </a:rPr>
              <a:t>Ongoing monitoring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4527" y="49560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596"/>
                </a:solidFill>
                <a:latin typeface="Calibri"/>
              </a:rPr>
              <a:t>TBD baseline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0216" y="3383280"/>
            <a:ext cx="3749039" cy="192024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00216" y="3383280"/>
            <a:ext cx="3749039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37376" y="34930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Satisfaction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37376" y="384048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≥4.2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37376" y="44988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8D4"/>
                </a:solidFill>
                <a:latin typeface="Calibri"/>
              </a:rPr>
              <a:t>CSAT Score / 5.0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37376" y="4892040"/>
            <a:ext cx="3474720" cy="1270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37376" y="49560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596"/>
                </a:solidFill>
                <a:latin typeface="Calibri"/>
              </a:rPr>
              <a:t>30 hari post-launch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74736" y="49560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596"/>
                </a:solidFill>
                <a:latin typeface="Calibri"/>
              </a:rPr>
              <a:t>TBD baseline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5486400"/>
            <a:ext cx="11430000" cy="114300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55595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2B"/>
                </a:solidFill>
                <a:latin typeface="Calibri"/>
              </a:rPr>
              <a:t>OKR Alignment: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9788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D4"/>
                </a:solidFill>
                <a:latin typeface="Calibri"/>
              </a:rPr>
              <a:t>KR1: Pertumbuhan merchant aktif — AtlasAI sebagai akuisisi calon merchant baru (sebelum bisnis buka)
KR2: Peningkatan ARPU — upsell fitur premium AtlasAI kepada merchant existing  |  Target: 15% konversi dalam 90 hari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596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2B"/>
                </a:solidFill>
                <a:latin typeface="Calibri"/>
              </a:rPr>
              <a:t>STRATEGIC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Mengapa AtlasAI Masuk Akal untuk ESB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30000" cy="254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5577840" cy="210312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80160"/>
            <a:ext cx="91440" cy="210312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80160"/>
            <a:ext cx="5577840" cy="54864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89888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2B"/>
                </a:solidFill>
                <a:latin typeface="Calibri"/>
              </a:rPr>
              <a:t>Diferensiasi &amp;
Competitive Moat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39"/>
            <a:ext cx="5212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D4"/>
                </a:solidFill>
                <a:latin typeface="Calibri"/>
              </a:rPr>
              <a:t>Fondasinya adalah data internal ESB — tidak dapat direplikasi kompetitor manapun. Semakin banyak merchant bergabung, semakin akurat AtlasAI → network effect yang menguat seiring waktu.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79" y="1280160"/>
            <a:ext cx="5577840" cy="210312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79" y="1280160"/>
            <a:ext cx="91440" cy="2103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79" y="1280160"/>
            <a:ext cx="55778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1389888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  <a:latin typeface="Calibri"/>
              </a:rPr>
              <a:t>Revenue Expansion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1920239"/>
            <a:ext cx="5212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D4"/>
                </a:solidFill>
                <a:latin typeface="Calibri"/>
              </a:rPr>
              <a:t>AtlasAI dikemas sebagai fitur premium berbayar atau bundle paket ESB — membuka revenue baru tanpa perlu menambah merchant baru. Target: 15% pengguna upgrade ke premium dalam 90 hari.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566160"/>
            <a:ext cx="5577840" cy="210312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566160"/>
            <a:ext cx="91440" cy="21031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566160"/>
            <a:ext cx="557784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675887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Calibri"/>
              </a:rPr>
              <a:t>Merchant Acquisition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206240"/>
            <a:ext cx="5212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D4"/>
                </a:solidFill>
                <a:latin typeface="Calibri"/>
              </a:rPr>
              <a:t>Bagi calon merchant, AtlasAI menjadi alasan untuk bergabung ESB SEBELUM bisnis mereka bahkan buka. Top-of-funnel acquisition yang unik — tidak ada platform lain menawarkan ini.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79" y="3566160"/>
            <a:ext cx="5577840" cy="210312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79" y="3566160"/>
            <a:ext cx="91440" cy="2103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79" y="3566160"/>
            <a:ext cx="55778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59" y="3675887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  <a:latin typeface="Calibri"/>
              </a:rPr>
              <a:t>Merchant Retention
&amp; Lock-in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4206240"/>
            <a:ext cx="5212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D4"/>
                </a:solidFill>
                <a:latin typeface="Calibri"/>
              </a:rPr>
              <a:t>Analisis makin akurat seiring penggunaan. Merchant yang berhasil ekspansi dengan AtlasAI memiliki loyalitas jauh lebih tinggi. Churn rate turun signifikan.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5943600"/>
            <a:ext cx="11430000" cy="713232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0167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2B"/>
                </a:solidFill>
                <a:latin typeface="Calibri"/>
              </a:rPr>
              <a:t>Mengapa Sekarang: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60167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 SaaS FnB makin kompetitif → diferensiasi produk kritis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60167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 Boom merchant FnB pasca-pandemi (UMKM &amp; franchise kecil)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60167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D4"/>
                </a:solidFill>
                <a:latin typeface="Calibri"/>
              </a:rPr>
              <a:t>•  AI + geospatial API makin terjangkau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596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2B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Fase &amp; Rencana ke Depan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30000" cy="254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10789920" cy="73152"/>
          </a:xfrm>
          <a:prstGeom prst="rect">
            <a:avLst/>
          </a:prstGeom>
          <a:solidFill>
            <a:srgbClr val="6B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47472" y="1444752"/>
            <a:ext cx="219456" cy="219456"/>
          </a:xfrm>
          <a:prstGeom prst="ellipse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005072" y="1444752"/>
            <a:ext cx="219456" cy="21945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62672" y="1444752"/>
            <a:ext cx="219456" cy="21945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828800"/>
            <a:ext cx="3749039" cy="438912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828800"/>
            <a:ext cx="3749039" cy="4572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84708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360" y="1901952"/>
            <a:ext cx="1051560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79" y="1920240"/>
            <a:ext cx="96011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23042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Hackathon MVP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2633472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596"/>
                </a:solidFill>
                <a:latin typeface="Calibri"/>
              </a:rPr>
              <a:t>Mei – Jun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01752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B8D4"/>
                </a:solidFill>
                <a:latin typeface="Calibri"/>
              </a:rPr>
              <a:t>• Core flow: analisis 5 dimensi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40156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B8D4"/>
                </a:solidFill>
                <a:latin typeface="Calibri"/>
              </a:rPr>
              <a:t>• Competitor map (Leaflet)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785615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B8D4"/>
                </a:solidFill>
                <a:latin typeface="Calibri"/>
              </a:rPr>
              <a:t>• Estimasi profit ESB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169663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B8D4"/>
                </a:solidFill>
                <a:latin typeface="Calibri"/>
              </a:rPr>
              <a:t>• Rekomendasi AI narasi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5371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596"/>
                </a:solidFill>
                <a:latin typeface="Calibri"/>
              </a:rPr>
              <a:t>• Export PDF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9377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596"/>
                </a:solidFill>
                <a:latin typeface="Calibri"/>
              </a:rPr>
              <a:t>• Riwayat analisis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218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596"/>
                </a:solidFill>
                <a:latin typeface="Calibri"/>
              </a:rPr>
              <a:t>• Auth (login/register)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70585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596"/>
                </a:solidFill>
                <a:latin typeface="Calibri"/>
              </a:rPr>
              <a:t>• Coverage: Jakarta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9" y="1828800"/>
            <a:ext cx="3749039" cy="438912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7679" y="1828800"/>
            <a:ext cx="3749039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19" y="184708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7999" y="1901952"/>
            <a:ext cx="1051560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19" y="1920240"/>
            <a:ext cx="96011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PLANNED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19" y="23042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Beta Launch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19" y="2633472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596"/>
                </a:solidFill>
                <a:latin typeface="Calibri"/>
              </a:rPr>
              <a:t>Agt 2026 (Soft Launch)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301752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B8D4"/>
                </a:solidFill>
                <a:latin typeface="Calibri"/>
              </a:rPr>
              <a:t>• Ekspansi 6 kota: Surabaya, Bandung, Medan, Makassar, Semarang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340156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B8D4"/>
                </a:solidFill>
                <a:latin typeface="Calibri"/>
              </a:rPr>
              <a:t>• Real-time competitor updates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3785615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B8D4"/>
                </a:solidFill>
                <a:latin typeface="Calibri"/>
              </a:rPr>
              <a:t>• Dashboard ESB terintegrasi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169663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B8D4"/>
                </a:solidFill>
                <a:latin typeface="Calibri"/>
              </a:rPr>
              <a:t>• Premium gating &amp; billing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596"/>
                </a:solidFill>
                <a:latin typeface="Calibri"/>
              </a:rPr>
              <a:t>• CSAT feedback in-app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34840" y="49377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596"/>
                </a:solidFill>
                <a:latin typeface="Calibri"/>
              </a:rPr>
              <a:t>• UU PDP compliance review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53218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596"/>
                </a:solidFill>
                <a:latin typeface="Calibri"/>
              </a:rPr>
              <a:t>• Legal ToS update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34840" y="570585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596"/>
                </a:solidFill>
                <a:latin typeface="Calibri"/>
              </a:rPr>
              <a:t>• Load testing &amp; hardening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75319" y="1828800"/>
            <a:ext cx="3749039" cy="4389120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75319" y="1828800"/>
            <a:ext cx="3749039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66759" y="184708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v1.1+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835639" y="1901952"/>
            <a:ext cx="1051560" cy="256032"/>
          </a:xfrm>
          <a:prstGeom prst="rect">
            <a:avLst/>
          </a:prstGeom>
          <a:solidFill>
            <a:srgbClr val="6B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881359" y="1920240"/>
            <a:ext cx="96011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BACKLOG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6759" y="23042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 Expansion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59" y="2633472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596"/>
                </a:solidFill>
                <a:latin typeface="Calibri"/>
              </a:rPr>
              <a:t>Q4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301752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B8D4"/>
                </a:solidFill>
                <a:latin typeface="Calibri"/>
              </a:rPr>
              <a:t>• Compare Locations (max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340156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B8D4"/>
                </a:solidFill>
                <a:latin typeface="Calibri"/>
              </a:rPr>
              <a:t>• Notifikasi perubahan area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3785615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B8D4"/>
                </a:solidFill>
                <a:latin typeface="Calibri"/>
              </a:rPr>
              <a:t>• ESB Financial Planner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4169663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B8D4"/>
                </a:solidFill>
                <a:latin typeface="Calibri"/>
              </a:rPr>
              <a:t>• Seasonal trend overlay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12480" y="455371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596"/>
                </a:solidFill>
                <a:latin typeface="Calibri"/>
              </a:rPr>
              <a:t>• API partner (Lamudi/Rumah123)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80" y="49377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596"/>
                </a:solidFill>
                <a:latin typeface="Calibri"/>
              </a:rPr>
              <a:t>• Seluruh kota Indonesia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0" y="53218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596"/>
                </a:solidFill>
                <a:latin typeface="Calibri"/>
              </a:rPr>
              <a:t>• Merchant opt-in data pipeline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80" y="570585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596"/>
                </a:solidFill>
                <a:latin typeface="Calibri"/>
              </a:rPr>
              <a:t>• Multi-language support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6364224"/>
            <a:ext cx="11430000" cy="320040"/>
          </a:xfrm>
          <a:prstGeom prst="rect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4008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6B7596"/>
                </a:solidFill>
                <a:latin typeface="Calibri"/>
              </a:rPr>
              <a:t>Known Limitations: Coverage terbatas Jakarta (Phase 1)  ·  Competitor data lag ~30 hari  ·  Profit estimasi historis, bukan prediksi  ·  Data outlet dianonimkan &amp; diagregasi (min. per zona)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596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-457200"/>
            <a:ext cx="5486400" cy="5486400"/>
          </a:xfrm>
          <a:prstGeom prst="ellipse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0" y="-457200"/>
            <a:ext cx="3657600" cy="3657600"/>
          </a:xfrm>
          <a:prstGeom prst="ellipse">
            <a:avLst/>
          </a:prstGeom>
          <a:solidFill>
            <a:srgbClr val="1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0" y="411480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052560" y="411480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0" y="411480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784080" y="411480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0" y="411480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0" y="411480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0" y="448056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52560" y="448056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18320" y="448056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84080" y="448056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149840" y="448056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0" y="448056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0" y="484632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52560" y="484632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18320" y="484632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784080" y="484632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49840" y="484632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0" y="484632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0" y="521208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52560" y="521208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418320" y="521208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784080" y="521208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49840" y="521208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15600" y="521208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0" y="557784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052560" y="557784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18320" y="557784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784080" y="557784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49840" y="557784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515600" y="557784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0" y="594360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052560" y="594360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418320" y="594360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784080" y="594360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49840" y="594360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515600" y="5943600"/>
            <a:ext cx="91440" cy="91440"/>
          </a:xfrm>
          <a:prstGeom prst="ellipse">
            <a:avLst/>
          </a:prstGeom>
          <a:solidFill>
            <a:srgbClr val="3A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1097280"/>
            <a:ext cx="6400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Terima Kasih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2176272"/>
            <a:ext cx="5943600" cy="254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233172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8D4"/>
                </a:solidFill>
                <a:latin typeface="Calibri"/>
              </a:rPr>
              <a:t>ESB AtlasAI membuktikan bahwa 30.000+ outlet ESB bukan sekadar
angka operasional — melainkan aset strategis yang bisa mengubah cara
merchant Indonesia membuat keputusan bisnis terpenting mereka.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657600"/>
            <a:ext cx="6858000" cy="658368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3657600"/>
            <a:ext cx="73152" cy="658368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3712463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2B"/>
                </a:solidFill>
                <a:latin typeface="Calibri"/>
              </a:rPr>
              <a:t>🌐 Live Demo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77440" y="3712463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D4"/>
                </a:solidFill>
                <a:latin typeface="Calibri"/>
              </a:rPr>
              <a:t>atlas-dsrkzwf4l-dikitaurensias-projects.vercel.app/login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462272"/>
            <a:ext cx="6858000" cy="658368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462272"/>
            <a:ext cx="73152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451713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📧 Contact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77440" y="4517136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D4"/>
                </a:solidFill>
                <a:latin typeface="Calibri"/>
              </a:rPr>
              <a:t>diki.taurens@esb.co.id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266944"/>
            <a:ext cx="6858000" cy="658368"/>
          </a:xfrm>
          <a:prstGeom prst="rect">
            <a:avLst/>
          </a:prstGeom>
          <a:solidFill>
            <a:srgbClr val="16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5266944"/>
            <a:ext cx="73152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5800" y="53218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📋 PRD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7440" y="5321807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D4"/>
                </a:solidFill>
                <a:latin typeface="Calibri"/>
              </a:rPr>
              <a:t>PRD-ATLASAI-001 · ESB Internal Hackathon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26364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96"/>
                </a:solidFill>
                <a:latin typeface="Calibri"/>
              </a:rPr>
              <a:t>Diki Taurens Sia  ·  Engineer Lead  ·  ESB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0" y="228600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0" b="0" i="0">
                <a:solidFill>
                  <a:srgbClr val="FF6B2B"/>
                </a:solidFill>
                <a:latin typeface="Calibri"/>
              </a:rPr>
              <a:t>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596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